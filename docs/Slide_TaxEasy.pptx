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-2011680"/>
            <a:ext cx="5486400" cy="548640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3291840"/>
            <a:ext cx="3840480" cy="3840480"/>
          </a:xfrm>
          <a:prstGeom prst="ellipse">
            <a:avLst/>
          </a:prstGeom>
          <a:solidFill>
            <a:srgbClr val="0D9488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371600"/>
            <a:ext cx="1051560" cy="1051560"/>
          </a:xfrm>
          <a:prstGeom prst="roundRect">
            <a:avLst>
              <a:gd name="adj" fmla="val 15652"/>
            </a:avLst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B2545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1627632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03120" y="1371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TaxEasy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841248" y="2697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Trợ lý bán hàng &amp; thuế cho hộ kinh doanh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841248" y="32918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app điện thoại offline-first — bán hàng, quản lý, ước tính thuế và xuất hóa đơn điện tử đúng luật 2026.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41248" y="4160520"/>
            <a:ext cx="1540764" cy="411480"/>
          </a:xfrm>
          <a:prstGeom prst="roundRect">
            <a:avLst>
              <a:gd name="adj" fmla="val 48889"/>
            </a:avLst>
          </a:prstGeom>
          <a:solidFill>
            <a:srgbClr val="13315C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1248" y="4160520"/>
            <a:ext cx="15407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2610612" y="4160520"/>
            <a:ext cx="2116836" cy="411480"/>
          </a:xfrm>
          <a:prstGeom prst="roundRect">
            <a:avLst>
              <a:gd name="adj" fmla="val 48889"/>
            </a:avLst>
          </a:prstGeom>
          <a:solidFill>
            <a:srgbClr val="13315C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610612" y="4160520"/>
            <a:ext cx="21168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Đúng luật thuế 2026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956048" y="4160520"/>
            <a:ext cx="1924812" cy="411480"/>
          </a:xfrm>
          <a:prstGeom prst="roundRect">
            <a:avLst>
              <a:gd name="adj" fmla="val 48889"/>
            </a:avLst>
          </a:prstGeom>
          <a:solidFill>
            <a:srgbClr val="13315C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56048" y="4160520"/>
            <a:ext cx="19248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Hóa đơn XML chuẩn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109460" y="4160520"/>
            <a:ext cx="1540764" cy="411480"/>
          </a:xfrm>
          <a:prstGeom prst="roundRect">
            <a:avLst>
              <a:gd name="adj" fmla="val 48889"/>
            </a:avLst>
          </a:prstGeom>
          <a:solidFill>
            <a:srgbClr val="13315C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09460" y="4160520"/>
            <a:ext cx="15407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 test PASS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41248" y="5166360"/>
            <a:ext cx="10515600" cy="0"/>
          </a:xfrm>
          <a:prstGeom prst="line">
            <a:avLst/>
          </a:prstGeom>
          <a:noFill/>
          <a:ln w="19050">
            <a:solidFill>
              <a:srgbClr val="13315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41248" y="53492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ĐỘI THI 2 THÀNH VIÊN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Thành viên A — Ứng dụng Flutter  ·  Thành viên B — Backend NestJS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772400" y="53492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SOLUTION CHALLENGE</a:t>
            </a:r>
            <a:endParaRPr lang="en-US" sz="13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E8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Tháng 06 năm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TOÁN · THỰC TIỄN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Từ 2026, hộ kinh doanh phải tự kê khai thuế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709928"/>
            <a:ext cx="566928" cy="566928"/>
          </a:xfrm>
          <a:prstGeom prst="ellipse">
            <a:avLst/>
          </a:prstGeom>
          <a:solidFill>
            <a:srgbClr val="E8F3F1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1837944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645920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Bỏ thuế khoán
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Phải tự ghi nhận từng giao dịch, tổng hợp doanh thu theo kỳ.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94360" y="2670048"/>
            <a:ext cx="566928" cy="566928"/>
          </a:xfrm>
          <a:prstGeom prst="ellipse">
            <a:avLst/>
          </a:prstGeom>
          <a:solidFill>
            <a:srgbClr val="E8F3F1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2798064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2606040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Bán nơi sóng yếu
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Chợ, vỉa hè — app cần mạng liên tục bị treo, mất đơn, mất khách.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94360" y="3630168"/>
            <a:ext cx="566928" cy="566928"/>
          </a:xfrm>
          <a:prstGeom prst="ellipse">
            <a:avLst/>
          </a:prstGeom>
          <a:solidFill>
            <a:srgbClr val="E8F3F1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3758184"/>
            <a:ext cx="310896" cy="3108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25880" y="3566160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biết tính thuế
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Tỷ lệ khác nhau theo loại hình; không rõ đã gần ngưỡng 200tr chưa.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594360" y="4590288"/>
            <a:ext cx="566928" cy="566928"/>
          </a:xfrm>
          <a:prstGeom prst="ellipse">
            <a:avLst/>
          </a:prstGeom>
          <a:solidFill>
            <a:srgbClr val="E8F3F1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4718304"/>
            <a:ext cx="310896" cy="31089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25880" y="4526280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Hóa đơn điện tử rắc rối
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XML của Tổng cục Thuế phức tạp, không tự tạo đúng được.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7406640" y="1691640"/>
            <a:ext cx="4206240" cy="3931920"/>
          </a:xfrm>
          <a:prstGeom prst="roundRect">
            <a:avLst>
              <a:gd name="adj" fmla="val 2326"/>
            </a:avLst>
          </a:prstGeom>
          <a:solidFill>
            <a:srgbClr val="0B2545"/>
          </a:solidFill>
          <a:ln/>
          <a:effectLst>
            <a:outerShdw sx="100000" sy="100000" kx="0" ky="0" algn="bl" rotWithShape="0" blurRad="88900" dist="38100" dir="5400000">
              <a:srgbClr val="0B2545">
                <a:alpha val="18000"/>
              </a:srgbClr>
            </a:outerShdw>
          </a:effectLst>
        </p:spPr>
      </p:sp>
      <p:sp>
        <p:nvSpPr>
          <p:cNvPr id="18" name="Text 12"/>
          <p:cNvSpPr/>
          <p:nvPr/>
        </p:nvSpPr>
        <p:spPr>
          <a:xfrm>
            <a:off x="772668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Khoảng trống cần lấp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7726680" y="23774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Hàng triệu</a:t>
            </a:r>
            <a:endParaRPr lang="en-US" sz="4600" dirty="0"/>
          </a:p>
        </p:txBody>
      </p:sp>
      <p:sp>
        <p:nvSpPr>
          <p:cNvPr id="20" name="Text 14"/>
          <p:cNvSpPr/>
          <p:nvPr/>
        </p:nvSpPr>
        <p:spPr>
          <a:xfrm>
            <a:off x="7726680" y="324612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hộ kinh doanh cá thể tại Việt Nam — quán ăn, tạp hóa, cà phê, dịch vụ nhỏ.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7726680" y="4114800"/>
            <a:ext cx="3566160" cy="0"/>
          </a:xfrm>
          <a:prstGeom prst="line">
            <a:avLst/>
          </a:prstGeom>
          <a:noFill/>
          <a:ln w="19050">
            <a:solidFill>
              <a:srgbClr val="13315C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7726680" y="4251960"/>
            <a:ext cx="3611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Vốn quen bán bằng giấy bút và trí nhớ — nay buộc phải ghi nhận, tính thuế và xuất hóa đơn, mà thiếu cả công cụ lẫn kiến thức.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24" name="Text 18"/>
          <p:cNvSpPr/>
          <p:nvPr/>
        </p:nvSpPr>
        <p:spPr>
          <a:xfrm>
            <a:off x="457200" y="6547104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TaxEasy · IT Solution Challenge 2026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7162495" y="6547104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8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tả bài toán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414455" y="6547104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94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6400800" cy="6400800"/>
          </a:xfrm>
          <a:prstGeom prst="ellipse">
            <a:avLst/>
          </a:prstGeom>
          <a:solidFill>
            <a:srgbClr val="14B8A6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3657600"/>
            <a:ext cx="5486400" cy="5486400"/>
          </a:xfrm>
          <a:prstGeom prst="ellipse">
            <a:avLst/>
          </a:prstGeom>
          <a:solidFill>
            <a:srgbClr val="0B2545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PHÁP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10332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Một app — </a:t>
            </a:r>
            <a:pPr algn="ctr" indent="0" marL="0">
              <a:buNone/>
            </a:pPr>
            <a:r>
              <a:rPr lang="en-US" sz="4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bán hàng, quản lý, thuế</a:t>
            </a:r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chạy được cả khi mất mạng.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1051560" y="4206240"/>
            <a:ext cx="32461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2545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0" y="4480560"/>
            <a:ext cx="685800" cy="685800"/>
          </a:xfrm>
          <a:prstGeom prst="ellipse">
            <a:avLst/>
          </a:prstGeom>
          <a:solidFill>
            <a:srgbClr val="E8F3F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7048" y="4636008"/>
            <a:ext cx="374904" cy="37490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194560" y="449884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Bán hàng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371600" y="525780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Lưới món, chạm để bán dưới 3 giây, hoạt động offline.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07992" y="4206240"/>
            <a:ext cx="32461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2545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28032" y="4480560"/>
            <a:ext cx="685800" cy="685800"/>
          </a:xfrm>
          <a:prstGeom prst="ellipse">
            <a:avLst/>
          </a:prstGeom>
          <a:solidFill>
            <a:srgbClr val="E8F3F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4636008"/>
            <a:ext cx="374904" cy="37490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50992" y="449884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Quản lý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4828032" y="525780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Doanh thu, biểu đồ, top món, lợi nhuận, gợi ý thông minh.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964424" y="4206240"/>
            <a:ext cx="32461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2545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84464" y="4480560"/>
            <a:ext cx="685800" cy="685800"/>
          </a:xfrm>
          <a:prstGeom prst="ellipse">
            <a:avLst/>
          </a:prstGeom>
          <a:solidFill>
            <a:srgbClr val="E8F3F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12" y="4636008"/>
            <a:ext cx="374904" cy="37490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107424" y="449884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Thuế</a:t>
            </a:r>
            <a:endParaRPr lang="en-US" sz="1900" dirty="0"/>
          </a:p>
        </p:txBody>
      </p:sp>
      <p:sp>
        <p:nvSpPr>
          <p:cNvPr id="20" name="Text 15"/>
          <p:cNvSpPr/>
          <p:nvPr/>
        </p:nvSpPr>
        <p:spPr>
          <a:xfrm>
            <a:off x="8284464" y="525780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Ước tính đúng luật 2026, nhắc hạn, xuất hóa đơn XML.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DEFINITION OF DONE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Một luồng liền mạch trên một chiếc điện thoại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8F3F1"/>
            </a:solidFill>
            <a:prstDash val="solid"/>
          </a:ln>
          <a:effectLst>
            <a:outerShdw sx="100000" sy="100000" kx="0" ky="0" algn="bl" rotWithShape="0" blurRad="88900" dist="38100" dir="5400000">
              <a:srgbClr val="0B2545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83080"/>
            <a:ext cx="2606040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2103120"/>
            <a:ext cx="868680" cy="868680"/>
          </a:xfrm>
          <a:prstGeom prst="ellipse">
            <a:avLst/>
          </a:prstGeom>
          <a:solidFill>
            <a:srgbClr val="E8F3F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313432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587752" y="2039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737360" y="210312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nhập
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vào thẳng Bán hàng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3383280" y="178308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8F3F1"/>
            </a:solidFill>
            <a:prstDash val="solid"/>
          </a:ln>
          <a:effectLst>
            <a:outerShdw sx="100000" sy="100000" kx="0" ky="0" algn="bl" rotWithShape="0" blurRad="88900" dist="38100" dir="5400000">
              <a:srgbClr val="0B2545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83280" y="1783080"/>
            <a:ext cx="2606040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Shape 10"/>
          <p:cNvSpPr/>
          <p:nvPr/>
        </p:nvSpPr>
        <p:spPr>
          <a:xfrm>
            <a:off x="3584448" y="2103120"/>
            <a:ext cx="868680" cy="868680"/>
          </a:xfrm>
          <a:prstGeom prst="ellipse">
            <a:avLst/>
          </a:prstGeom>
          <a:solidFill>
            <a:srgbClr val="E8F3F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2313432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22392" y="2039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4572000" y="210312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Bán &lt; 3 giây
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chạm món, tính tiền thối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6217920" y="178308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8F3F1"/>
            </a:solidFill>
            <a:prstDash val="solid"/>
          </a:ln>
          <a:effectLst>
            <a:outerShdw sx="100000" sy="100000" kx="0" ky="0" algn="bl" rotWithShape="0" blurRad="88900" dist="38100" dir="5400000">
              <a:srgbClr val="0B2545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217920" y="1783080"/>
            <a:ext cx="2606040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Shape 15"/>
          <p:cNvSpPr/>
          <p:nvPr/>
        </p:nvSpPr>
        <p:spPr>
          <a:xfrm>
            <a:off x="6419088" y="2103120"/>
            <a:ext cx="868680" cy="868680"/>
          </a:xfrm>
          <a:prstGeom prst="ellipse">
            <a:avLst/>
          </a:prstGeom>
          <a:solidFill>
            <a:srgbClr val="E8F3F1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313432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257032" y="2039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17"/>
          <p:cNvSpPr/>
          <p:nvPr/>
        </p:nvSpPr>
        <p:spPr>
          <a:xfrm>
            <a:off x="7406640" y="210312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vẫn bán
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tắt mạng, không mất đơn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9052560" y="178308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8F3F1"/>
            </a:solidFill>
            <a:prstDash val="solid"/>
          </a:ln>
          <a:effectLst>
            <a:outerShdw sx="100000" sy="100000" kx="0" ky="0" algn="bl" rotWithShape="0" blurRad="88900" dist="38100" dir="5400000">
              <a:srgbClr val="0B2545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052560" y="1783080"/>
            <a:ext cx="2606040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Shape 20"/>
          <p:cNvSpPr/>
          <p:nvPr/>
        </p:nvSpPr>
        <p:spPr>
          <a:xfrm>
            <a:off x="9253728" y="2103120"/>
            <a:ext cx="868680" cy="868680"/>
          </a:xfrm>
          <a:prstGeom prst="ellipse">
            <a:avLst/>
          </a:prstGeom>
          <a:solidFill>
            <a:srgbClr val="E8F3F1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2313432"/>
            <a:ext cx="457200" cy="4572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1091672" y="2039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Text 22"/>
          <p:cNvSpPr/>
          <p:nvPr/>
        </p:nvSpPr>
        <p:spPr>
          <a:xfrm>
            <a:off x="10241280" y="210312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đồng bộ
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bật mạng, không trùng số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1874520" y="370332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8F3F1"/>
            </a:solidFill>
            <a:prstDash val="solid"/>
          </a:ln>
          <a:effectLst>
            <a:outerShdw sx="100000" sy="100000" kx="0" ky="0" algn="bl" rotWithShape="0" blurRad="88900" dist="38100" dir="5400000">
              <a:srgbClr val="0B2545">
                <a:alpha val="1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1874520" y="3703320"/>
            <a:ext cx="2606040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Shape 25"/>
          <p:cNvSpPr/>
          <p:nvPr/>
        </p:nvSpPr>
        <p:spPr>
          <a:xfrm>
            <a:off x="2075688" y="4023360"/>
            <a:ext cx="868680" cy="868680"/>
          </a:xfrm>
          <a:prstGeom prst="ellipse">
            <a:avLst/>
          </a:prstGeom>
          <a:solidFill>
            <a:srgbClr val="E8F3F1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0" y="4233672"/>
            <a:ext cx="457200" cy="45720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913632" y="3959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34" name="Text 27"/>
          <p:cNvSpPr/>
          <p:nvPr/>
        </p:nvSpPr>
        <p:spPr>
          <a:xfrm>
            <a:off x="3063240" y="402336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Hiện QR
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 quét tra cứu</a:t>
            </a:r>
            <a:endParaRPr lang="en-US" sz="1500" dirty="0"/>
          </a:p>
        </p:txBody>
      </p:sp>
      <p:sp>
        <p:nvSpPr>
          <p:cNvPr id="35" name="Shape 28"/>
          <p:cNvSpPr/>
          <p:nvPr/>
        </p:nvSpPr>
        <p:spPr>
          <a:xfrm>
            <a:off x="4709160" y="370332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8F3F1"/>
            </a:solidFill>
            <a:prstDash val="solid"/>
          </a:ln>
          <a:effectLst>
            <a:outerShdw sx="100000" sy="100000" kx="0" ky="0" algn="bl" rotWithShape="0" blurRad="88900" dist="38100" dir="5400000">
              <a:srgbClr val="0B2545">
                <a:alpha val="18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4709160" y="3703320"/>
            <a:ext cx="2606040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7" name="Shape 30"/>
          <p:cNvSpPr/>
          <p:nvPr/>
        </p:nvSpPr>
        <p:spPr>
          <a:xfrm>
            <a:off x="4910328" y="4023360"/>
            <a:ext cx="868680" cy="868680"/>
          </a:xfrm>
          <a:prstGeom prst="ellipse">
            <a:avLst/>
          </a:prstGeom>
          <a:solidFill>
            <a:srgbClr val="E8F3F1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0" y="4233672"/>
            <a:ext cx="457200" cy="45720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748272" y="3959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40" name="Text 32"/>
          <p:cNvSpPr/>
          <p:nvPr/>
        </p:nvSpPr>
        <p:spPr>
          <a:xfrm>
            <a:off x="5897880" y="402336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
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doanh thu + biểu đồ + thuế</a:t>
            </a:r>
            <a:endParaRPr lang="en-US" sz="1500" dirty="0"/>
          </a:p>
        </p:txBody>
      </p:sp>
      <p:sp>
        <p:nvSpPr>
          <p:cNvPr id="41" name="Shape 33"/>
          <p:cNvSpPr/>
          <p:nvPr/>
        </p:nvSpPr>
        <p:spPr>
          <a:xfrm>
            <a:off x="7543800" y="370332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8F3F1"/>
            </a:solidFill>
            <a:prstDash val="solid"/>
          </a:ln>
          <a:effectLst>
            <a:outerShdw sx="100000" sy="100000" kx="0" ky="0" algn="bl" rotWithShape="0" blurRad="88900" dist="38100" dir="5400000">
              <a:srgbClr val="0B2545">
                <a:alpha val="18000"/>
              </a:srgbClr>
            </a:outerShdw>
          </a:effectLst>
        </p:spPr>
      </p:sp>
      <p:sp>
        <p:nvSpPr>
          <p:cNvPr id="42" name="Shape 34"/>
          <p:cNvSpPr/>
          <p:nvPr/>
        </p:nvSpPr>
        <p:spPr>
          <a:xfrm>
            <a:off x="7543800" y="3703320"/>
            <a:ext cx="2606040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3" name="Shape 35"/>
          <p:cNvSpPr/>
          <p:nvPr/>
        </p:nvSpPr>
        <p:spPr>
          <a:xfrm>
            <a:off x="7744968" y="4023360"/>
            <a:ext cx="868680" cy="868680"/>
          </a:xfrm>
          <a:prstGeom prst="ellipse">
            <a:avLst/>
          </a:prstGeom>
          <a:solidFill>
            <a:srgbClr val="E8F3F1"/>
          </a:solidFill>
          <a:ln/>
        </p:spPr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5280" y="4233672"/>
            <a:ext cx="457200" cy="457200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9582912" y="3959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200" dirty="0"/>
          </a:p>
        </p:txBody>
      </p:sp>
      <p:sp>
        <p:nvSpPr>
          <p:cNvPr id="46" name="Text 37"/>
          <p:cNvSpPr/>
          <p:nvPr/>
        </p:nvSpPr>
        <p:spPr>
          <a:xfrm>
            <a:off x="8732520" y="402336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Xuất XML
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Thông tư 78/2021</a:t>
            </a:r>
            <a:endParaRPr lang="en-US" sz="1500" dirty="0"/>
          </a:p>
        </p:txBody>
      </p:sp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27248" y="2468880"/>
            <a:ext cx="256032" cy="256032"/>
          </a:xfrm>
          <a:prstGeom prst="rect">
            <a:avLst/>
          </a:prstGeom>
        </p:spPr>
      </p:pic>
      <p:pic>
        <p:nvPicPr>
          <p:cNvPr id="4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61888" y="2468880"/>
            <a:ext cx="256032" cy="256032"/>
          </a:xfrm>
          <a:prstGeom prst="rect">
            <a:avLst/>
          </a:prstGeom>
        </p:spPr>
      </p:pic>
      <p:pic>
        <p:nvPicPr>
          <p:cNvPr id="4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96528" y="2468880"/>
            <a:ext cx="256032" cy="256032"/>
          </a:xfrm>
          <a:prstGeom prst="rect">
            <a:avLst/>
          </a:prstGeom>
        </p:spPr>
      </p:pic>
      <p:pic>
        <p:nvPicPr>
          <p:cNvPr id="5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53128" y="4389120"/>
            <a:ext cx="256032" cy="256032"/>
          </a:xfrm>
          <a:prstGeom prst="rect">
            <a:avLst/>
          </a:prstGeom>
        </p:spPr>
      </p:pic>
      <p:pic>
        <p:nvPicPr>
          <p:cNvPr id="5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87768" y="4389120"/>
            <a:ext cx="256032" cy="256032"/>
          </a:xfrm>
          <a:prstGeom prst="rect">
            <a:avLst/>
          </a:prstGeom>
        </p:spPr>
      </p:pic>
      <p:sp>
        <p:nvSpPr>
          <p:cNvPr id="52" name="Text 38"/>
          <p:cNvSpPr/>
          <p:nvPr/>
        </p:nvSpPr>
        <p:spPr>
          <a:xfrm>
            <a:off x="548640" y="5577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Vùng vàng = điểm nhấn kỹ thuật: bán offline rồi tự đồng bộ không trùng hóa đơn.</a:t>
            </a:r>
            <a:endParaRPr lang="en-US" sz="1200" dirty="0"/>
          </a:p>
        </p:txBody>
      </p:sp>
      <p:sp>
        <p:nvSpPr>
          <p:cNvPr id="53" name="Shape 3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54" name="Text 40"/>
          <p:cNvSpPr/>
          <p:nvPr/>
        </p:nvSpPr>
        <p:spPr>
          <a:xfrm>
            <a:off x="457200" y="6547104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TaxEasy · IT Solution Challenge 2026</a:t>
            </a:r>
            <a:endParaRPr lang="en-US" sz="900" dirty="0"/>
          </a:p>
        </p:txBody>
      </p:sp>
      <p:sp>
        <p:nvSpPr>
          <p:cNvPr id="55" name="Text 41"/>
          <p:cNvSpPr/>
          <p:nvPr/>
        </p:nvSpPr>
        <p:spPr>
          <a:xfrm>
            <a:off x="7162495" y="6547104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8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Luồng demo</a:t>
            </a:r>
            <a:endParaRPr lang="en-US" sz="900" dirty="0"/>
          </a:p>
        </p:txBody>
      </p:sp>
      <p:sp>
        <p:nvSpPr>
          <p:cNvPr id="56" name="Text 42"/>
          <p:cNvSpPr/>
          <p:nvPr/>
        </p:nvSpPr>
        <p:spPr>
          <a:xfrm>
            <a:off x="11414455" y="6547104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KHÁC BIỆT · USP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Khác biệt cốt lõi so với đa số đội thi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194560" cy="50292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7373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Yếu tố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0" y="1737360"/>
            <a:ext cx="3977640" cy="50292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8" name="Text 6"/>
          <p:cNvSpPr/>
          <p:nvPr/>
        </p:nvSpPr>
        <p:spPr>
          <a:xfrm>
            <a:off x="2907792" y="173736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 số giải pháp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720840" y="1737360"/>
            <a:ext cx="489204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6885432" y="173736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TaxEasy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240280"/>
            <a:ext cx="21945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2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240280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0" y="2240280"/>
            <a:ext cx="39776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2E0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7792" y="2505456"/>
            <a:ext cx="219456" cy="21945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3200400" y="2240280"/>
            <a:ext cx="3383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Hô khẩu hiệu, không chạy thật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720840" y="2240280"/>
            <a:ext cx="4892040" cy="749808"/>
          </a:xfrm>
          <a:prstGeom prst="rect">
            <a:avLst/>
          </a:prstGeom>
          <a:solidFill>
            <a:srgbClr val="E6F4F1"/>
          </a:solidFill>
          <a:ln w="6350">
            <a:solidFill>
              <a:srgbClr val="D6E2E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720840" y="2240280"/>
            <a:ext cx="54864" cy="749808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2008" y="2505456"/>
            <a:ext cx="219456" cy="21945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232904" y="2240280"/>
            <a:ext cx="42336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 client + transaction Serializable + retry — chạy thật, chống trùng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48640" y="2990088"/>
            <a:ext cx="2194560" cy="749808"/>
          </a:xfrm>
          <a:prstGeom prst="rect">
            <a:avLst/>
          </a:prstGeom>
          <a:solidFill>
            <a:srgbClr val="E8F3F1"/>
          </a:solidFill>
          <a:ln w="6350">
            <a:solidFill>
              <a:srgbClr val="D6E2E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13232" y="2990088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Hóa đơn điện tử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2743200" y="2990088"/>
            <a:ext cx="3977640" cy="749808"/>
          </a:xfrm>
          <a:prstGeom prst="rect">
            <a:avLst/>
          </a:prstGeom>
          <a:solidFill>
            <a:srgbClr val="E8F3F1"/>
          </a:solidFill>
          <a:ln w="6350">
            <a:solidFill>
              <a:srgbClr val="D6E2E0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7792" y="3255264"/>
            <a:ext cx="219456" cy="21945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3200400" y="2990088"/>
            <a:ext cx="3383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Bỏ qua hoặc giả lập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6720840" y="2990088"/>
            <a:ext cx="4892040" cy="749808"/>
          </a:xfrm>
          <a:prstGeom prst="rect">
            <a:avLst/>
          </a:prstGeom>
          <a:solidFill>
            <a:srgbClr val="E6F4F1"/>
          </a:solidFill>
          <a:ln w="6350">
            <a:solidFill>
              <a:srgbClr val="D6E2E0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720840" y="2990088"/>
            <a:ext cx="54864" cy="749808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008" y="3255264"/>
            <a:ext cx="219456" cy="21945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232904" y="2990088"/>
            <a:ext cx="42336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Xuất XML đúng Thông tư 78/2021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548640" y="3739896"/>
            <a:ext cx="21945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2E0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713232" y="3739896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thuế</a:t>
            </a:r>
            <a:endParaRPr lang="en-US" sz="1300" dirty="0"/>
          </a:p>
        </p:txBody>
      </p:sp>
      <p:sp>
        <p:nvSpPr>
          <p:cNvPr id="31" name="Shape 25"/>
          <p:cNvSpPr/>
          <p:nvPr/>
        </p:nvSpPr>
        <p:spPr>
          <a:xfrm>
            <a:off x="2743200" y="3739896"/>
            <a:ext cx="39776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2E0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07792" y="4005072"/>
            <a:ext cx="219456" cy="219456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200400" y="3739896"/>
            <a:ext cx="3383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 một con số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6720840" y="3739896"/>
            <a:ext cx="4892040" cy="749808"/>
          </a:xfrm>
          <a:prstGeom prst="rect">
            <a:avLst/>
          </a:prstGeom>
          <a:solidFill>
            <a:srgbClr val="E6F4F1"/>
          </a:solidFill>
          <a:ln w="6350">
            <a:solidFill>
              <a:srgbClr val="D6E2E0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6720840" y="3739896"/>
            <a:ext cx="54864" cy="749808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2008" y="4005072"/>
            <a:ext cx="219456" cy="219456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7232904" y="3739896"/>
            <a:ext cx="42336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Đúng luật 2026, tách theo loại hình, ngưỡng 200 triệu</a:t>
            </a:r>
            <a:endParaRPr lang="en-US" sz="1200" dirty="0"/>
          </a:p>
        </p:txBody>
      </p:sp>
      <p:sp>
        <p:nvSpPr>
          <p:cNvPr id="38" name="Shape 30"/>
          <p:cNvSpPr/>
          <p:nvPr/>
        </p:nvSpPr>
        <p:spPr>
          <a:xfrm>
            <a:off x="548640" y="4489704"/>
            <a:ext cx="2194560" cy="749808"/>
          </a:xfrm>
          <a:prstGeom prst="rect">
            <a:avLst/>
          </a:prstGeom>
          <a:solidFill>
            <a:srgbClr val="E8F3F1"/>
          </a:solidFill>
          <a:ln w="6350">
            <a:solidFill>
              <a:srgbClr val="D6E2E0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713232" y="4489704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mật</a:t>
            </a:r>
            <a:endParaRPr lang="en-US" sz="1300" dirty="0"/>
          </a:p>
        </p:txBody>
      </p:sp>
      <p:sp>
        <p:nvSpPr>
          <p:cNvPr id="40" name="Shape 32"/>
          <p:cNvSpPr/>
          <p:nvPr/>
        </p:nvSpPr>
        <p:spPr>
          <a:xfrm>
            <a:off x="2743200" y="4489704"/>
            <a:ext cx="3977640" cy="749808"/>
          </a:xfrm>
          <a:prstGeom prst="rect">
            <a:avLst/>
          </a:prstGeom>
          <a:solidFill>
            <a:srgbClr val="E8F3F1"/>
          </a:solidFill>
          <a:ln w="6350">
            <a:solidFill>
              <a:srgbClr val="D6E2E0"/>
            </a:solidFill>
            <a:prstDash val="solid"/>
          </a:ln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07792" y="4754880"/>
            <a:ext cx="219456" cy="219456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3200400" y="4489704"/>
            <a:ext cx="3383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Để JWT secret trong mã</a:t>
            </a:r>
            <a:endParaRPr lang="en-US" sz="1200" dirty="0"/>
          </a:p>
        </p:txBody>
      </p:sp>
      <p:sp>
        <p:nvSpPr>
          <p:cNvPr id="43" name="Shape 34"/>
          <p:cNvSpPr/>
          <p:nvPr/>
        </p:nvSpPr>
        <p:spPr>
          <a:xfrm>
            <a:off x="6720840" y="4489704"/>
            <a:ext cx="4892040" cy="749808"/>
          </a:xfrm>
          <a:prstGeom prst="rect">
            <a:avLst/>
          </a:prstGeom>
          <a:solidFill>
            <a:srgbClr val="E6F4F1"/>
          </a:solidFill>
          <a:ln w="6350">
            <a:solidFill>
              <a:srgbClr val="D6E2E0"/>
            </a:solidFill>
            <a:prstDash val="solid"/>
          </a:ln>
        </p:spPr>
      </p:sp>
      <p:sp>
        <p:nvSpPr>
          <p:cNvPr id="44" name="Shape 35"/>
          <p:cNvSpPr/>
          <p:nvPr/>
        </p:nvSpPr>
        <p:spPr>
          <a:xfrm>
            <a:off x="6720840" y="4489704"/>
            <a:ext cx="54864" cy="749808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22008" y="4754880"/>
            <a:ext cx="219456" cy="219456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7232904" y="4489704"/>
            <a:ext cx="42336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Fail-fast, bcrypt, rate-limit từng route, kiểm tra sở hữu</a:t>
            </a:r>
            <a:endParaRPr lang="en-US" sz="1200" dirty="0"/>
          </a:p>
        </p:txBody>
      </p:sp>
      <p:sp>
        <p:nvSpPr>
          <p:cNvPr id="47" name="Shape 37"/>
          <p:cNvSpPr/>
          <p:nvPr/>
        </p:nvSpPr>
        <p:spPr>
          <a:xfrm>
            <a:off x="548640" y="5239512"/>
            <a:ext cx="21945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2E0"/>
            </a:solidFill>
            <a:prstDash val="solid"/>
          </a:ln>
        </p:spPr>
      </p:sp>
      <p:sp>
        <p:nvSpPr>
          <p:cNvPr id="48" name="Text 38"/>
          <p:cNvSpPr/>
          <p:nvPr/>
        </p:nvSpPr>
        <p:spPr>
          <a:xfrm>
            <a:off x="713232" y="5239512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thử</a:t>
            </a:r>
            <a:endParaRPr lang="en-US" sz="1300" dirty="0"/>
          </a:p>
        </p:txBody>
      </p:sp>
      <p:sp>
        <p:nvSpPr>
          <p:cNvPr id="49" name="Shape 39"/>
          <p:cNvSpPr/>
          <p:nvPr/>
        </p:nvSpPr>
        <p:spPr>
          <a:xfrm>
            <a:off x="2743200" y="5239512"/>
            <a:ext cx="39776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2E0"/>
            </a:solidFill>
            <a:prstDash val="solid"/>
          </a:ln>
        </p:spPr>
      </p:sp>
      <p:pic>
        <p:nvPicPr>
          <p:cNvPr id="5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07792" y="5504688"/>
            <a:ext cx="219456" cy="219456"/>
          </a:xfrm>
          <a:prstGeom prst="rect">
            <a:avLst/>
          </a:prstGeom>
        </p:spPr>
      </p:pic>
      <p:sp>
        <p:nvSpPr>
          <p:cNvPr id="51" name="Text 40"/>
          <p:cNvSpPr/>
          <p:nvPr/>
        </p:nvSpPr>
        <p:spPr>
          <a:xfrm>
            <a:off x="3200400" y="5239512"/>
            <a:ext cx="3383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Gần như không có</a:t>
            </a:r>
            <a:endParaRPr lang="en-US" sz="1200" dirty="0"/>
          </a:p>
        </p:txBody>
      </p:sp>
      <p:sp>
        <p:nvSpPr>
          <p:cNvPr id="52" name="Shape 41"/>
          <p:cNvSpPr/>
          <p:nvPr/>
        </p:nvSpPr>
        <p:spPr>
          <a:xfrm>
            <a:off x="6720840" y="5239512"/>
            <a:ext cx="4892040" cy="749808"/>
          </a:xfrm>
          <a:prstGeom prst="rect">
            <a:avLst/>
          </a:prstGeom>
          <a:solidFill>
            <a:srgbClr val="E6F4F1"/>
          </a:solidFill>
          <a:ln w="6350">
            <a:solidFill>
              <a:srgbClr val="D6E2E0"/>
            </a:solidFill>
            <a:prstDash val="solid"/>
          </a:ln>
        </p:spPr>
      </p:sp>
      <p:sp>
        <p:nvSpPr>
          <p:cNvPr id="53" name="Shape 42"/>
          <p:cNvSpPr/>
          <p:nvPr/>
        </p:nvSpPr>
        <p:spPr>
          <a:xfrm>
            <a:off x="6720840" y="5239512"/>
            <a:ext cx="54864" cy="749808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5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22008" y="5504688"/>
            <a:ext cx="219456" cy="219456"/>
          </a:xfrm>
          <a:prstGeom prst="rect">
            <a:avLst/>
          </a:prstGeom>
        </p:spPr>
      </p:pic>
      <p:sp>
        <p:nvSpPr>
          <p:cNvPr id="55" name="Text 43"/>
          <p:cNvSpPr/>
          <p:nvPr/>
        </p:nvSpPr>
        <p:spPr>
          <a:xfrm>
            <a:off x="7232904" y="5239512"/>
            <a:ext cx="42336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 test PASS trên 6 bộ test</a:t>
            </a:r>
            <a:endParaRPr lang="en-US" sz="1200" dirty="0"/>
          </a:p>
        </p:txBody>
      </p:sp>
      <p:sp>
        <p:nvSpPr>
          <p:cNvPr id="56" name="Shape 4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57" name="Text 45"/>
          <p:cNvSpPr/>
          <p:nvPr/>
        </p:nvSpPr>
        <p:spPr>
          <a:xfrm>
            <a:off x="457200" y="6547104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TaxEasy · IT Solution Challenge 2026</a:t>
            </a:r>
            <a:endParaRPr lang="en-US" sz="900" dirty="0"/>
          </a:p>
        </p:txBody>
      </p:sp>
      <p:sp>
        <p:nvSpPr>
          <p:cNvPr id="58" name="Text 46"/>
          <p:cNvSpPr/>
          <p:nvPr/>
        </p:nvSpPr>
        <p:spPr>
          <a:xfrm>
            <a:off x="7162495" y="6547104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8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Lợi thế cạnh tranh</a:t>
            </a:r>
            <a:endParaRPr lang="en-US" sz="900" dirty="0"/>
          </a:p>
        </p:txBody>
      </p:sp>
      <p:sp>
        <p:nvSpPr>
          <p:cNvPr id="59" name="Text 47"/>
          <p:cNvSpPr/>
          <p:nvPr/>
        </p:nvSpPr>
        <p:spPr>
          <a:xfrm>
            <a:off x="11414455" y="6547104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HỆ THỐNG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Flutter offline-first + NestJS / Prisma / PostgreSQL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4572000" cy="4206240"/>
          </a:xfrm>
          <a:prstGeom prst="roundRect">
            <a:avLst>
              <a:gd name="adj" fmla="val 1739"/>
            </a:avLst>
          </a:prstGeom>
          <a:solidFill>
            <a:srgbClr val="13315C"/>
          </a:solidFill>
          <a:ln w="19050">
            <a:solidFill>
              <a:srgbClr val="14B8A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745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74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Flutter (điện thoại)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68680" y="2514600"/>
            <a:ext cx="4114800" cy="868680"/>
          </a:xfrm>
          <a:prstGeom prst="roundRect">
            <a:avLst>
              <a:gd name="adj" fmla="val 6316"/>
            </a:avLst>
          </a:prstGeom>
          <a:solidFill>
            <a:srgbClr val="0B2545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770632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00200" y="251460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Bán hàng  </a:t>
            </a:r>
            <a:pPr indent="0" marL="0">
              <a:buNone/>
            </a:pPr>
            <a:r>
              <a:rPr lang="en-US" sz="1100" dirty="0">
                <a:solidFill>
                  <a:srgbClr val="E8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lưới món · giỏ · QR · offline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868680" y="3520440"/>
            <a:ext cx="4114800" cy="868680"/>
          </a:xfrm>
          <a:prstGeom prst="roundRect">
            <a:avLst>
              <a:gd name="adj" fmla="val 6316"/>
            </a:avLst>
          </a:prstGeom>
          <a:solidFill>
            <a:srgbClr val="0B2545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776472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00200" y="352044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 </a:t>
            </a:r>
            <a:pPr indent="0" marL="0">
              <a:buNone/>
            </a:pPr>
            <a:r>
              <a:rPr lang="en-US" sz="1100" dirty="0">
                <a:solidFill>
                  <a:srgbClr val="E8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doanh thu · thuế · nhắc hạn · lịch sử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868680" y="4526280"/>
            <a:ext cx="4114800" cy="777240"/>
          </a:xfrm>
          <a:prstGeom prst="roundRect">
            <a:avLst/>
          </a:prstGeom>
          <a:solidFill>
            <a:srgbClr val="0D9488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4736592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600200" y="452628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cục bộ + Hàng đợi đồng bộ</a:t>
            </a:r>
            <a:endParaRPr lang="en-US" sz="12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3337560"/>
            <a:ext cx="502920" cy="50292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285232" y="388620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(dio)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/sync/invoices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</a:t>
            </a:r>
            <a:endParaRPr lang="en-US" sz="950" dirty="0"/>
          </a:p>
        </p:txBody>
      </p:sp>
      <p:sp>
        <p:nvSpPr>
          <p:cNvPr id="19" name="Shape 12"/>
          <p:cNvSpPr/>
          <p:nvPr/>
        </p:nvSpPr>
        <p:spPr>
          <a:xfrm>
            <a:off x="6995160" y="1691640"/>
            <a:ext cx="4572000" cy="2743200"/>
          </a:xfrm>
          <a:prstGeom prst="roundRect">
            <a:avLst>
              <a:gd name="adj" fmla="val 2667"/>
            </a:avLst>
          </a:prstGeom>
          <a:solidFill>
            <a:srgbClr val="13315C"/>
          </a:solidFill>
          <a:ln w="19050">
            <a:solidFill>
              <a:srgbClr val="14B8A6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3760" y="1874520"/>
            <a:ext cx="457200" cy="4572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772400" y="1874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NestJS</a:t>
            </a:r>
            <a:endParaRPr lang="en-US" sz="1500" dirty="0"/>
          </a:p>
        </p:txBody>
      </p:sp>
      <p:sp>
        <p:nvSpPr>
          <p:cNvPr id="22" name="Shape 14"/>
          <p:cNvSpPr/>
          <p:nvPr/>
        </p:nvSpPr>
        <p:spPr>
          <a:xfrm>
            <a:off x="7223760" y="2468880"/>
            <a:ext cx="960120" cy="384048"/>
          </a:xfrm>
          <a:prstGeom prst="roundRect">
            <a:avLst>
              <a:gd name="adj" fmla="val 47619"/>
            </a:avLst>
          </a:prstGeom>
          <a:solidFill>
            <a:srgbClr val="0B2545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7223760" y="246888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/auth</a:t>
            </a:r>
            <a:endParaRPr lang="en-US" sz="1100" dirty="0"/>
          </a:p>
        </p:txBody>
      </p:sp>
      <p:sp>
        <p:nvSpPr>
          <p:cNvPr id="24" name="Shape 16"/>
          <p:cNvSpPr/>
          <p:nvPr/>
        </p:nvSpPr>
        <p:spPr>
          <a:xfrm>
            <a:off x="8348472" y="2468880"/>
            <a:ext cx="1161288" cy="384048"/>
          </a:xfrm>
          <a:prstGeom prst="roundRect">
            <a:avLst>
              <a:gd name="adj" fmla="val 47619"/>
            </a:avLst>
          </a:prstGeom>
          <a:solidFill>
            <a:srgbClr val="0B2545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25" name="Text 17"/>
          <p:cNvSpPr/>
          <p:nvPr/>
        </p:nvSpPr>
        <p:spPr>
          <a:xfrm>
            <a:off x="8348472" y="2468880"/>
            <a:ext cx="1161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/stores</a:t>
            </a:r>
            <a:endParaRPr lang="en-US" sz="1100" dirty="0"/>
          </a:p>
        </p:txBody>
      </p:sp>
      <p:sp>
        <p:nvSpPr>
          <p:cNvPr id="26" name="Shape 18"/>
          <p:cNvSpPr/>
          <p:nvPr/>
        </p:nvSpPr>
        <p:spPr>
          <a:xfrm>
            <a:off x="9674352" y="2468880"/>
            <a:ext cx="1362456" cy="384048"/>
          </a:xfrm>
          <a:prstGeom prst="roundRect">
            <a:avLst>
              <a:gd name="adj" fmla="val 47619"/>
            </a:avLst>
          </a:prstGeom>
          <a:solidFill>
            <a:srgbClr val="0B2545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9674352" y="2468880"/>
            <a:ext cx="1362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/products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7223760" y="2971800"/>
            <a:ext cx="1362456" cy="384048"/>
          </a:xfrm>
          <a:prstGeom prst="roundRect">
            <a:avLst>
              <a:gd name="adj" fmla="val 47619"/>
            </a:avLst>
          </a:prstGeom>
          <a:solidFill>
            <a:srgbClr val="0B2545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7223760" y="2971800"/>
            <a:ext cx="1362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/invoices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8750808" y="2971800"/>
            <a:ext cx="960120" cy="384048"/>
          </a:xfrm>
          <a:prstGeom prst="roundRect">
            <a:avLst>
              <a:gd name="adj" fmla="val 47619"/>
            </a:avLst>
          </a:prstGeom>
          <a:solidFill>
            <a:srgbClr val="0B2545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31" name="Text 23"/>
          <p:cNvSpPr/>
          <p:nvPr/>
        </p:nvSpPr>
        <p:spPr>
          <a:xfrm>
            <a:off x="8750808" y="297180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/sync</a:t>
            </a:r>
            <a:endParaRPr lang="en-US" sz="1100" dirty="0"/>
          </a:p>
        </p:txBody>
      </p:sp>
      <p:sp>
        <p:nvSpPr>
          <p:cNvPr id="32" name="Shape 24"/>
          <p:cNvSpPr/>
          <p:nvPr/>
        </p:nvSpPr>
        <p:spPr>
          <a:xfrm>
            <a:off x="9875520" y="2971800"/>
            <a:ext cx="859536" cy="384048"/>
          </a:xfrm>
          <a:prstGeom prst="roundRect">
            <a:avLst>
              <a:gd name="adj" fmla="val 47619"/>
            </a:avLst>
          </a:prstGeom>
          <a:solidFill>
            <a:srgbClr val="0B2545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9875520" y="2971800"/>
            <a:ext cx="8595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/tax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10899648" y="2971800"/>
            <a:ext cx="1261872" cy="384048"/>
          </a:xfrm>
          <a:prstGeom prst="roundRect">
            <a:avLst>
              <a:gd name="adj" fmla="val 47619"/>
            </a:avLst>
          </a:prstGeom>
          <a:solidFill>
            <a:srgbClr val="0B2545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10899648" y="2971800"/>
            <a:ext cx="1261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/reports</a:t>
            </a:r>
            <a:endParaRPr lang="en-US" sz="1100" dirty="0"/>
          </a:p>
        </p:txBody>
      </p:sp>
      <p:sp>
        <p:nvSpPr>
          <p:cNvPr id="36" name="Shape 28"/>
          <p:cNvSpPr/>
          <p:nvPr/>
        </p:nvSpPr>
        <p:spPr>
          <a:xfrm>
            <a:off x="7223760" y="3474720"/>
            <a:ext cx="758952" cy="384048"/>
          </a:xfrm>
          <a:prstGeom prst="roundRect">
            <a:avLst>
              <a:gd name="adj" fmla="val 47619"/>
            </a:avLst>
          </a:prstGeom>
          <a:solidFill>
            <a:srgbClr val="0B2545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7223760" y="3474720"/>
            <a:ext cx="758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/ai</a:t>
            </a:r>
            <a:endParaRPr lang="en-US" sz="1100" dirty="0"/>
          </a:p>
        </p:txBody>
      </p:sp>
      <p:sp>
        <p:nvSpPr>
          <p:cNvPr id="38" name="Shape 30"/>
          <p:cNvSpPr/>
          <p:nvPr/>
        </p:nvSpPr>
        <p:spPr>
          <a:xfrm>
            <a:off x="7223760" y="3749040"/>
            <a:ext cx="4114800" cy="548640"/>
          </a:xfrm>
          <a:prstGeom prst="roundRect">
            <a:avLst/>
          </a:prstGeom>
          <a:solidFill>
            <a:srgbClr val="0D9488"/>
          </a:solidFill>
          <a:ln/>
        </p:spPr>
      </p:sp>
      <p:sp>
        <p:nvSpPr>
          <p:cNvPr id="39" name="Text 31"/>
          <p:cNvSpPr/>
          <p:nvPr/>
        </p:nvSpPr>
        <p:spPr>
          <a:xfrm>
            <a:off x="7223760" y="37490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Serializable + retry  →  Prisma ORM</a:t>
            </a:r>
            <a:endParaRPr lang="en-US" sz="1150" dirty="0"/>
          </a:p>
        </p:txBody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9006840" y="4526280"/>
            <a:ext cx="274320" cy="274320"/>
          </a:xfrm>
          <a:prstGeom prst="rect">
            <a:avLst/>
          </a:prstGeom>
        </p:spPr>
      </p:pic>
      <p:sp>
        <p:nvSpPr>
          <p:cNvPr id="41" name="Shape 32"/>
          <p:cNvSpPr/>
          <p:nvPr/>
        </p:nvSpPr>
        <p:spPr>
          <a:xfrm>
            <a:off x="7909560" y="4892040"/>
            <a:ext cx="2743200" cy="777240"/>
          </a:xfrm>
          <a:prstGeom prst="roundRect">
            <a:avLst/>
          </a:prstGeom>
          <a:solidFill>
            <a:srgbClr val="5EEAD4"/>
          </a:solidFill>
          <a:ln/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83880" y="5102352"/>
            <a:ext cx="365760" cy="365760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8686800" y="48920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44" name="Text 34"/>
          <p:cNvSpPr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bảng · 8 migration Prisma · hóa đơn bất biến (snapshot tên + giá)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KỸ THUẬT NỔI BẬT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Offline chạy thật — chống trùng hóa đơn tận gốc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2545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83080"/>
            <a:ext cx="109728" cy="1691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2103120"/>
            <a:ext cx="777240" cy="777240"/>
          </a:xfrm>
          <a:prstGeom prst="ellipse">
            <a:avLst/>
          </a:prstGeom>
          <a:solidFill>
            <a:srgbClr val="E8F3F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28600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20574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UUID sinh ở client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828800" y="2560320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Khóa chính hóa đơn là UUID v4 tạo ngay trên máy lúc bán — không chờ server cấp số.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080760" y="178308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2545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080760" y="1783080"/>
            <a:ext cx="109728" cy="1691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0" y="2103120"/>
            <a:ext cx="777240" cy="777240"/>
          </a:xfrm>
          <a:prstGeom prst="ellipse">
            <a:avLst/>
          </a:prstGeom>
          <a:solidFill>
            <a:srgbClr val="E8F3F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28600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360920" y="20574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Đồng bộ idempotent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7360920" y="2560320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Gửi lại cùng một hóa đơn → server nhận diện theo id, trả "duplicate", không tạo bản sao.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548640" y="365760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2545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48640" y="3657600"/>
            <a:ext cx="109728" cy="1691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Shape 15"/>
          <p:cNvSpPr/>
          <p:nvPr/>
        </p:nvSpPr>
        <p:spPr>
          <a:xfrm>
            <a:off x="868680" y="3977640"/>
            <a:ext cx="777240" cy="777240"/>
          </a:xfrm>
          <a:prstGeom prst="ellipse">
            <a:avLst/>
          </a:prstGeom>
          <a:solidFill>
            <a:srgbClr val="E8F3F1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4160520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828800" y="393192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Transaction Serializable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1828800" y="4434840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Cấp số tuần tự trong giao dịch cô lập cao nhất; xung đột (P2034/P2002) tự retry tối đa 5 lần.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6080760" y="365760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2545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080760" y="3657600"/>
            <a:ext cx="109728" cy="1691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Shape 20"/>
          <p:cNvSpPr/>
          <p:nvPr/>
        </p:nvSpPr>
        <p:spPr>
          <a:xfrm>
            <a:off x="6400800" y="3977640"/>
            <a:ext cx="777240" cy="777240"/>
          </a:xfrm>
          <a:prstGeom prst="ellipse">
            <a:avLst/>
          </a:prstGeom>
          <a:solidFill>
            <a:srgbClr val="E8F3F1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4160520"/>
            <a:ext cx="411480" cy="41148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360920" y="393192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Hóa đơn bất biến</a:t>
            </a:r>
            <a:endParaRPr lang="en-US" sz="1700" dirty="0"/>
          </a:p>
        </p:txBody>
      </p:sp>
      <p:sp>
        <p:nvSpPr>
          <p:cNvPr id="28" name="Text 22"/>
          <p:cNvSpPr/>
          <p:nvPr/>
        </p:nvSpPr>
        <p:spPr>
          <a:xfrm>
            <a:off x="7360920" y="4434840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Dòng hàng lưu snapshot tên + giá; mọi PATCH/DELETE lên hóa đơn bị từ chối (405).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548640" y="5532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 khó: hai hóa đơn đồng bộ cùng lúc có thể đọc cùng giá trị đếm → trùng số, vi phạm @@unique. Đây là phần khiến offline "chạy thật" thay vì chỉ là khẩu hiệu.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1" name="Text 25"/>
          <p:cNvSpPr/>
          <p:nvPr/>
        </p:nvSpPr>
        <p:spPr>
          <a:xfrm>
            <a:off x="457200" y="6547104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TaxEasy · IT Solution Challenge 2026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7162495" y="6547104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8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Kỹ thuật cốt lõi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1414455" y="6547104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THUẾ ĐÚNG LUẬT 2026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Tỷ lệ theo loại hình · ngưỡng miễn 200 triệu/năm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291840" cy="50292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Loại hình HKD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840480" y="1828800"/>
            <a:ext cx="1280160" cy="50292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0" y="18288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GTGT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120640" y="1828800"/>
            <a:ext cx="1280160" cy="50292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0" y="18288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TNCN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1828800"/>
            <a:ext cx="1371600" cy="50292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18288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331720"/>
            <a:ext cx="32918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6E2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233172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Hàng hóa (goods)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840480" y="2331720"/>
            <a:ext cx="12801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6E2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0" y="233172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1,0%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120640" y="2331720"/>
            <a:ext cx="12801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6E2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233172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0,5%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0" y="2331720"/>
            <a:ext cx="1371600" cy="777240"/>
          </a:xfrm>
          <a:prstGeom prst="rect">
            <a:avLst/>
          </a:prstGeom>
          <a:solidFill>
            <a:srgbClr val="E6F4F1"/>
          </a:solidFill>
          <a:ln w="6350">
            <a:solidFill>
              <a:srgbClr val="D6E2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233172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1,5%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" y="3108960"/>
            <a:ext cx="3291840" cy="777240"/>
          </a:xfrm>
          <a:prstGeom prst="rect">
            <a:avLst/>
          </a:prstGeom>
          <a:solidFill>
            <a:srgbClr val="E8F3F1"/>
          </a:solidFill>
          <a:ln w="6350">
            <a:solidFill>
              <a:srgbClr val="D6E2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310896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Ăn uống (food &amp; beverage)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840480" y="3108960"/>
            <a:ext cx="1280160" cy="777240"/>
          </a:xfrm>
          <a:prstGeom prst="rect">
            <a:avLst/>
          </a:prstGeom>
          <a:solidFill>
            <a:srgbClr val="E8F3F1"/>
          </a:solidFill>
          <a:ln w="6350">
            <a:solidFill>
              <a:srgbClr val="D6E2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0" y="310896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3,0%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120640" y="3108960"/>
            <a:ext cx="1280160" cy="777240"/>
          </a:xfrm>
          <a:prstGeom prst="rect">
            <a:avLst/>
          </a:prstGeom>
          <a:solidFill>
            <a:srgbClr val="E8F3F1"/>
          </a:solidFill>
          <a:ln w="6350">
            <a:solidFill>
              <a:srgbClr val="D6E2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310896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1,5%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400800" y="3108960"/>
            <a:ext cx="1371600" cy="777240"/>
          </a:xfrm>
          <a:prstGeom prst="rect">
            <a:avLst/>
          </a:prstGeom>
          <a:solidFill>
            <a:srgbClr val="E6F4F1"/>
          </a:solidFill>
          <a:ln w="6350">
            <a:solidFill>
              <a:srgbClr val="D6E2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310896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4,5%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48640" y="3886200"/>
            <a:ext cx="32918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6E2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" y="388620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Dịch vụ (services)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840480" y="3886200"/>
            <a:ext cx="12801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6E2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0" y="388620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5,0%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5120640" y="3886200"/>
            <a:ext cx="12801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6E2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388620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2,0%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400800" y="3886200"/>
            <a:ext cx="1371600" cy="777240"/>
          </a:xfrm>
          <a:prstGeom prst="rect">
            <a:avLst/>
          </a:prstGeom>
          <a:solidFill>
            <a:srgbClr val="E6F4F1"/>
          </a:solidFill>
          <a:ln w="6350">
            <a:solidFill>
              <a:srgbClr val="D6E2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0" y="388620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7,0%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48640" y="475488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Nguồn: Thông tư 18/2026/TT-BTC (thay TT 40/2021)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955280" y="1828800"/>
            <a:ext cx="3657600" cy="1691640"/>
          </a:xfrm>
          <a:prstGeom prst="roundRect">
            <a:avLst>
              <a:gd name="adj" fmla="val 4324"/>
            </a:avLst>
          </a:prstGeom>
          <a:solidFill>
            <a:srgbClr val="0B2545"/>
          </a:solidFill>
          <a:ln/>
          <a:effectLst>
            <a:outerShdw sx="100000" sy="100000" kx="0" ky="0" algn="bl" rotWithShape="0" blurRad="88900" dist="38100" dir="5400000">
              <a:srgbClr val="0B2545">
                <a:alpha val="18000"/>
              </a:srgbClr>
            </a:outerShdw>
          </a:effectLst>
        </p:spPr>
      </p:sp>
      <p:pic>
        <p:nvPicPr>
          <p:cNvPr id="3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057400"/>
            <a:ext cx="411480" cy="411480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8732520" y="202996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Ngưỡng miễn thuế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8229600" y="25146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 </a:t>
            </a:r>
            <a:pPr indent="0" marL="0">
              <a:buNone/>
            </a:pPr>
            <a:r>
              <a:rPr lang="en-US" sz="1600" dirty="0">
                <a:solidFill>
                  <a:srgbClr val="E8F3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triệu đ/năm</a:t>
            </a:r>
            <a:endParaRPr lang="en-US" sz="4400" dirty="0"/>
          </a:p>
        </p:txBody>
      </p:sp>
      <p:sp>
        <p:nvSpPr>
          <p:cNvPr id="42" name="Text 39"/>
          <p:cNvSpPr/>
          <p:nvPr/>
        </p:nvSpPr>
        <p:spPr>
          <a:xfrm>
            <a:off x="8229600" y="3154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 trên doanh thu quy đổi cả năm (annualised), không phải riêng kỳ.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7955280" y="3657600"/>
            <a:ext cx="36576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8F3F1"/>
            </a:solidFill>
            <a:prstDash val="solid"/>
          </a:ln>
          <a:effectLst>
            <a:outerShdw sx="100000" sy="100000" kx="0" ky="0" algn="bl" rotWithShape="0" blurRad="88900" dist="38100" dir="5400000">
              <a:srgbClr val="0B2545">
                <a:alpha val="18000"/>
              </a:srgbClr>
            </a:outerShdw>
          </a:effectLst>
        </p:spPr>
      </p:sp>
      <p:pic>
        <p:nvPicPr>
          <p:cNvPr id="4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3858768"/>
            <a:ext cx="384048" cy="384048"/>
          </a:xfrm>
          <a:prstGeom prst="rect">
            <a:avLst/>
          </a:prstGeom>
        </p:spPr>
      </p:pic>
      <p:sp>
        <p:nvSpPr>
          <p:cNvPr id="45" name="Text 41"/>
          <p:cNvSpPr/>
          <p:nvPr/>
        </p:nvSpPr>
        <p:spPr>
          <a:xfrm>
            <a:off x="8686800" y="38404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Nhắc hạn &amp; cảnh báo</a:t>
            </a:r>
            <a:endParaRPr lang="en-US" sz="1300" dirty="0"/>
          </a:p>
        </p:txBody>
      </p:sp>
      <p:sp>
        <p:nvSpPr>
          <p:cNvPr id="46" name="Text 42"/>
          <p:cNvSpPr/>
          <p:nvPr/>
        </p:nvSpPr>
        <p:spPr>
          <a:xfrm>
            <a:off x="8275320" y="4297680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Cảnh báo khi gần ngưỡng 200 triệu
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Nhắc hạn nộp tờ khai theo quý
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module tax-rules dùng chung — không lệch số</a:t>
            </a:r>
            <a:endParaRPr lang="en-US" sz="1150" dirty="0"/>
          </a:p>
        </p:txBody>
      </p:sp>
      <p:sp>
        <p:nvSpPr>
          <p:cNvPr id="47" name="Shape 4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48" name="Text 44"/>
          <p:cNvSpPr/>
          <p:nvPr/>
        </p:nvSpPr>
        <p:spPr>
          <a:xfrm>
            <a:off x="457200" y="6547104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TaxEasy · IT Solution Challenge 2026</a:t>
            </a:r>
            <a:endParaRPr lang="en-US" sz="900" dirty="0"/>
          </a:p>
        </p:txBody>
      </p:sp>
      <p:sp>
        <p:nvSpPr>
          <p:cNvPr id="49" name="Text 45"/>
          <p:cNvSpPr/>
          <p:nvPr/>
        </p:nvSpPr>
        <p:spPr>
          <a:xfrm>
            <a:off x="7162495" y="6547104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8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Thuế 2026</a:t>
            </a:r>
            <a:endParaRPr lang="en-US" sz="900" dirty="0"/>
          </a:p>
        </p:txBody>
      </p:sp>
      <p:sp>
        <p:nvSpPr>
          <p:cNvPr id="50" name="Text 46"/>
          <p:cNvSpPr/>
          <p:nvPr/>
        </p:nvSpPr>
        <p:spPr>
          <a:xfrm>
            <a:off x="11414455" y="6547104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TRỢ LÝ THÔNG MINH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Insight engine — 15 quy tắc, chạy offline &lt; 1ms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657600" cy="3840480"/>
          </a:xfrm>
          <a:prstGeom prst="roundRect">
            <a:avLst>
              <a:gd name="adj" fmla="val 2500"/>
            </a:avLst>
          </a:prstGeom>
          <a:solidFill>
            <a:srgbClr val="0B2545"/>
          </a:solidFill>
          <a:ln/>
          <a:effectLst>
            <a:outerShdw sx="100000" sy="100000" kx="0" ky="0" algn="bl" rotWithShape="0" blurRad="88900" dist="38100" dir="5400000">
              <a:srgbClr val="0B2545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5740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7889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 không gọi LLM?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315468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pPr indent="0" marL="0">
              <a:buNone/>
            </a:pPr>
            <a:r>
              <a:rPr lang="en-US" sz="1600" dirty="0">
                <a:solidFill>
                  <a:srgbClr val="E8F3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quy tắc</a:t>
            </a:r>
            <a:endParaRPr lang="en-US" sz="5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995928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3000" y="391363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hoàn toàn offline</a:t>
            </a:r>
            <a:endParaRPr lang="en-US" sz="12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379976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43000" y="42976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 dưới 1 mili-giây</a:t>
            </a:r>
            <a:endParaRPr lang="en-US" sz="12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764024"/>
            <a:ext cx="201168" cy="2011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43000" y="468172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cần API key / chi phí</a:t>
            </a:r>
            <a:endParaRPr lang="en-US" sz="12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148072"/>
            <a:ext cx="201168" cy="20116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43000" y="506577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3 gợi ý ưu tiên cao nhất</a:t>
            </a:r>
            <a:endParaRPr lang="en-US" sz="1200" dirty="0"/>
          </a:p>
        </p:txBody>
      </p:sp>
      <p:sp>
        <p:nvSpPr>
          <p:cNvPr id="17" name="Shape 10"/>
          <p:cNvSpPr/>
          <p:nvPr/>
        </p:nvSpPr>
        <p:spPr>
          <a:xfrm>
            <a:off x="4526280" y="1783080"/>
            <a:ext cx="70866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8F3F1"/>
            </a:solidFill>
            <a:prstDash val="solid"/>
          </a:ln>
          <a:effectLst>
            <a:outerShdw sx="100000" sy="100000" kx="0" ky="0" algn="bl" rotWithShape="0" blurRad="88900" dist="38100" dir="5400000">
              <a:srgbClr val="0B2545">
                <a:alpha val="18000"/>
              </a:srgbClr>
            </a:outerShdw>
          </a:effectLst>
        </p:spPr>
      </p:sp>
      <p:sp>
        <p:nvSpPr>
          <p:cNvPr id="18" name="Shape 11"/>
          <p:cNvSpPr/>
          <p:nvPr/>
        </p:nvSpPr>
        <p:spPr>
          <a:xfrm>
            <a:off x="4709160" y="1947672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9744" y="2048256"/>
            <a:ext cx="210312" cy="21031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285232" y="17830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 cơ vượt ngưỡng thuế   </a:t>
            </a:r>
            <a:pPr indent="0" marL="0">
              <a:buNone/>
            </a:pPr>
            <a:r>
              <a:rPr lang="en-US" sz="11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Doanh thu quy đổi năm đã đạt ≥ 90% của 200 triệu.</a:t>
            </a:r>
            <a:endParaRPr lang="en-US" sz="1350" dirty="0"/>
          </a:p>
        </p:txBody>
      </p:sp>
      <p:sp>
        <p:nvSpPr>
          <p:cNvPr id="21" name="Shape 13"/>
          <p:cNvSpPr/>
          <p:nvPr/>
        </p:nvSpPr>
        <p:spPr>
          <a:xfrm>
            <a:off x="4526280" y="2569464"/>
            <a:ext cx="70866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8F3F1"/>
            </a:solidFill>
            <a:prstDash val="solid"/>
          </a:ln>
          <a:effectLst>
            <a:outerShdw sx="100000" sy="100000" kx="0" ky="0" algn="bl" rotWithShape="0" blurRad="88900" dist="38100" dir="5400000">
              <a:srgbClr val="0B2545">
                <a:alpha val="18000"/>
              </a:srgbClr>
            </a:outerShdw>
          </a:effectLst>
        </p:spPr>
      </p:sp>
      <p:sp>
        <p:nvSpPr>
          <p:cNvPr id="22" name="Shape 14"/>
          <p:cNvSpPr/>
          <p:nvPr/>
        </p:nvSpPr>
        <p:spPr>
          <a:xfrm>
            <a:off x="4709160" y="2734056"/>
            <a:ext cx="411480" cy="411480"/>
          </a:xfrm>
          <a:prstGeom prst="ellipse">
            <a:avLst/>
          </a:prstGeom>
          <a:solidFill>
            <a:srgbClr val="EF6461"/>
          </a:solidFill>
          <a:ln/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9744" y="2834640"/>
            <a:ext cx="210312" cy="210312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285232" y="2569464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Món hết / sắp hết kho   </a:t>
            </a:r>
            <a:pPr indent="0" marL="0">
              <a:buNone/>
            </a:pPr>
            <a:r>
              <a:rPr lang="en-US" sz="11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Đang mất đơn vì hết hàng — cảnh báo nhập thêm.</a:t>
            </a:r>
            <a:endParaRPr lang="en-US" sz="1350" dirty="0"/>
          </a:p>
        </p:txBody>
      </p:sp>
      <p:sp>
        <p:nvSpPr>
          <p:cNvPr id="25" name="Shape 16"/>
          <p:cNvSpPr/>
          <p:nvPr/>
        </p:nvSpPr>
        <p:spPr>
          <a:xfrm>
            <a:off x="4526280" y="3355848"/>
            <a:ext cx="70866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8F3F1"/>
            </a:solidFill>
            <a:prstDash val="solid"/>
          </a:ln>
          <a:effectLst>
            <a:outerShdw sx="100000" sy="100000" kx="0" ky="0" algn="bl" rotWithShape="0" blurRad="88900" dist="38100" dir="5400000">
              <a:srgbClr val="0B2545">
                <a:alpha val="18000"/>
              </a:srgbClr>
            </a:outerShdw>
          </a:effectLst>
        </p:spPr>
      </p:sp>
      <p:sp>
        <p:nvSpPr>
          <p:cNvPr id="26" name="Shape 17"/>
          <p:cNvSpPr/>
          <p:nvPr/>
        </p:nvSpPr>
        <p:spPr>
          <a:xfrm>
            <a:off x="4709160" y="352044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9744" y="3621024"/>
            <a:ext cx="210312" cy="210312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5285232" y="3355848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Doanh thu biến động mạnh   </a:t>
            </a:r>
            <a:pPr indent="0" marL="0">
              <a:buNone/>
            </a:pPr>
            <a:r>
              <a:rPr lang="en-US" sz="11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&gt; 20% so tháng trước, hoặc tăng &gt; 30%.</a:t>
            </a:r>
            <a:endParaRPr lang="en-US" sz="1350" dirty="0"/>
          </a:p>
        </p:txBody>
      </p:sp>
      <p:sp>
        <p:nvSpPr>
          <p:cNvPr id="29" name="Shape 19"/>
          <p:cNvSpPr/>
          <p:nvPr/>
        </p:nvSpPr>
        <p:spPr>
          <a:xfrm>
            <a:off x="4526280" y="4142232"/>
            <a:ext cx="70866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8F3F1"/>
            </a:solidFill>
            <a:prstDash val="solid"/>
          </a:ln>
          <a:effectLst>
            <a:outerShdw sx="100000" sy="100000" kx="0" ky="0" algn="bl" rotWithShape="0" blurRad="88900" dist="38100" dir="5400000">
              <a:srgbClr val="0B2545">
                <a:alpha val="18000"/>
              </a:srgbClr>
            </a:outerShdw>
          </a:effectLst>
        </p:spPr>
      </p:sp>
      <p:sp>
        <p:nvSpPr>
          <p:cNvPr id="30" name="Shape 20"/>
          <p:cNvSpPr/>
          <p:nvPr/>
        </p:nvSpPr>
        <p:spPr>
          <a:xfrm>
            <a:off x="4709160" y="4306824"/>
            <a:ext cx="411480" cy="41148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09744" y="4407408"/>
            <a:ext cx="210312" cy="210312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5285232" y="4142232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Nhắc hạn &amp; thiết lập   </a:t>
            </a:r>
            <a:pPr indent="0" marL="0">
              <a:buNone/>
            </a:pPr>
            <a:r>
              <a:rPr lang="en-US" sz="11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Hạn kê khai cuối quý, nhập MST, nhập giá vốn.</a:t>
            </a:r>
            <a:endParaRPr lang="en-US" sz="1350" dirty="0"/>
          </a:p>
        </p:txBody>
      </p:sp>
      <p:sp>
        <p:nvSpPr>
          <p:cNvPr id="33" name="Shape 22"/>
          <p:cNvSpPr/>
          <p:nvPr/>
        </p:nvSpPr>
        <p:spPr>
          <a:xfrm>
            <a:off x="4526280" y="4928616"/>
            <a:ext cx="70866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8F3F1"/>
            </a:solidFill>
            <a:prstDash val="solid"/>
          </a:ln>
          <a:effectLst>
            <a:outerShdw sx="100000" sy="100000" kx="0" ky="0" algn="bl" rotWithShape="0" blurRad="88900" dist="38100" dir="5400000">
              <a:srgbClr val="0B2545">
                <a:alpha val="18000"/>
              </a:srgbClr>
            </a:outerShdw>
          </a:effectLst>
        </p:spPr>
      </p:sp>
      <p:sp>
        <p:nvSpPr>
          <p:cNvPr id="34" name="Shape 23"/>
          <p:cNvSpPr/>
          <p:nvPr/>
        </p:nvSpPr>
        <p:spPr>
          <a:xfrm>
            <a:off x="4709160" y="5093208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09744" y="5193792"/>
            <a:ext cx="210312" cy="210312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5285232" y="4928616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Phụ thuộc một món   </a:t>
            </a:r>
            <a:pPr indent="0" marL="0">
              <a:buNone/>
            </a:pPr>
            <a:r>
              <a:rPr lang="en-US" sz="11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món chiếm ≥ 60% doanh thu — rủi ro tập trung.</a:t>
            </a:r>
            <a:endParaRPr lang="en-US" sz="1350" dirty="0"/>
          </a:p>
        </p:txBody>
      </p:sp>
      <p:sp>
        <p:nvSpPr>
          <p:cNvPr id="37" name="Shap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8" name="Text 26"/>
          <p:cNvSpPr/>
          <p:nvPr/>
        </p:nvSpPr>
        <p:spPr>
          <a:xfrm>
            <a:off x="457200" y="6547104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TaxEasy · IT Solution Challenge 2026</a:t>
            </a:r>
            <a:endParaRPr lang="en-US" sz="900" dirty="0"/>
          </a:p>
        </p:txBody>
      </p:sp>
      <p:sp>
        <p:nvSpPr>
          <p:cNvPr id="39" name="Text 27"/>
          <p:cNvSpPr/>
          <p:nvPr/>
        </p:nvSpPr>
        <p:spPr>
          <a:xfrm>
            <a:off x="7162495" y="6547104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8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Sáng tạo · AI insight</a:t>
            </a:r>
            <a:endParaRPr lang="en-US" sz="900" dirty="0"/>
          </a:p>
        </p:txBody>
      </p:sp>
      <p:sp>
        <p:nvSpPr>
          <p:cNvPr id="40" name="Text 28"/>
          <p:cNvSpPr/>
          <p:nvPr/>
        </p:nvSpPr>
        <p:spPr>
          <a:xfrm>
            <a:off x="11414455" y="6547104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HÓA ĐƠN ĐIỆN TỬ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Mã QR cho khách + xuất XML chuẩn Thông tư 78/2021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657600" cy="37947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2545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194560"/>
            <a:ext cx="1920240" cy="1920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41605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QR hóa đơn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777240" y="45720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Hiện ngay sau khi thanh toán — khách quét để tra cứu thông tin hóa đơn.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34840" y="1828800"/>
            <a:ext cx="7178040" cy="3794760"/>
          </a:xfrm>
          <a:prstGeom prst="roundRect">
            <a:avLst>
              <a:gd name="adj" fmla="val 2410"/>
            </a:avLst>
          </a:prstGeom>
          <a:solidFill>
            <a:srgbClr val="0B2545"/>
          </a:solidFill>
          <a:ln/>
          <a:effectLst>
            <a:outerShdw sx="100000" sy="100000" kx="0" ky="0" algn="bl" rotWithShape="0" blurRad="88900" dist="38100" dir="5400000">
              <a:srgbClr val="0B2545">
                <a:alpha val="1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205740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57800" y="20574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trúc XML đúng chuẩn nhà nước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4709160" y="2697480"/>
            <a:ext cx="6583680" cy="566928"/>
          </a:xfrm>
          <a:prstGeom prst="rect">
            <a:avLst/>
          </a:prstGeom>
          <a:solidFill>
            <a:srgbClr val="13315C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846320" y="269748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&lt;HDon&gt;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583680" y="269748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Hóa đơn — gốc tài liệu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937760" y="3355848"/>
            <a:ext cx="6355080" cy="566928"/>
          </a:xfrm>
          <a:prstGeom prst="rect">
            <a:avLst/>
          </a:prstGeom>
          <a:solidFill>
            <a:srgbClr val="13315C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074920" y="3355848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&lt;DLHDon&gt;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6812280" y="3355848"/>
            <a:ext cx="4343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hóa đơn — mẫu số, ký hiệu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5166360" y="4014216"/>
            <a:ext cx="6126480" cy="566928"/>
          </a:xfrm>
          <a:prstGeom prst="rect">
            <a:avLst/>
          </a:prstGeom>
          <a:solidFill>
            <a:srgbClr val="13315C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303520" y="4014216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&lt;NDHDon&gt;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7040880" y="4014216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 — người bán + danh mục hàng hóa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5394960" y="4672584"/>
            <a:ext cx="5897880" cy="566928"/>
          </a:xfrm>
          <a:prstGeom prst="rect">
            <a:avLst/>
          </a:prstGeom>
          <a:solidFill>
            <a:srgbClr val="13315C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532120" y="4672584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&lt;TToan&gt;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7269480" y="4672584"/>
            <a:ext cx="3886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tiền thanh toán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4709160" y="5349240"/>
            <a:ext cx="6675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vùng chữ ký số để trống đúng quy cách — nộp được lên hệ thống hóa đơn điện tử của Tổng cục Thuế.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26" name="Text 22"/>
          <p:cNvSpPr/>
          <p:nvPr/>
        </p:nvSpPr>
        <p:spPr>
          <a:xfrm>
            <a:off x="457200" y="6547104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TaxEasy · IT Solution Challenge 2026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7162495" y="6547104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8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Hóa đơn điện tử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414455" y="6547104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ĐẠT ĐƯỢC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Sản phẩm chạy thật — đo bằng số liệu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3154680" cy="1828800"/>
          </a:xfrm>
          <a:prstGeom prst="roundRect">
            <a:avLst>
              <a:gd name="adj" fmla="val 4000"/>
            </a:avLst>
          </a:prstGeom>
          <a:solidFill>
            <a:srgbClr val="1331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38100" dir="5400000">
              <a:srgbClr val="0B2545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057400"/>
            <a:ext cx="640080" cy="64008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203704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01168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13.325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932688" y="28803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dòng Dart · 40 tệp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26280" y="1737360"/>
            <a:ext cx="3154680" cy="1828800"/>
          </a:xfrm>
          <a:prstGeom prst="roundRect">
            <a:avLst>
              <a:gd name="adj" fmla="val 4000"/>
            </a:avLst>
          </a:prstGeom>
          <a:solidFill>
            <a:srgbClr val="1331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38100" dir="5400000">
              <a:srgbClr val="0B2545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00600" y="2057400"/>
            <a:ext cx="640080" cy="64008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6904" y="2203704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77840" y="201168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3.007</a:t>
            </a:r>
            <a:endParaRPr lang="en-US" sz="3800" dirty="0"/>
          </a:p>
        </p:txBody>
      </p:sp>
      <p:sp>
        <p:nvSpPr>
          <p:cNvPr id="14" name="Text 10"/>
          <p:cNvSpPr/>
          <p:nvPr/>
        </p:nvSpPr>
        <p:spPr>
          <a:xfrm>
            <a:off x="4818888" y="28803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dòng TypeScript (backend)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412480" y="1737360"/>
            <a:ext cx="3154680" cy="1828800"/>
          </a:xfrm>
          <a:prstGeom prst="roundRect">
            <a:avLst>
              <a:gd name="adj" fmla="val 4000"/>
            </a:avLst>
          </a:prstGeom>
          <a:solidFill>
            <a:srgbClr val="1331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38100" dir="5400000">
              <a:srgbClr val="0B2545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86800" y="2057400"/>
            <a:ext cx="640080" cy="64008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3104" y="2203704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464040" y="201168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111</a:t>
            </a:r>
            <a:endParaRPr lang="en-US" sz="3800" dirty="0"/>
          </a:p>
        </p:txBody>
      </p:sp>
      <p:sp>
        <p:nvSpPr>
          <p:cNvPr id="19" name="Text 14"/>
          <p:cNvSpPr/>
          <p:nvPr/>
        </p:nvSpPr>
        <p:spPr>
          <a:xfrm>
            <a:off x="8705088" y="28803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PASS · 6 bộ · 0 fail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40080" y="3794760"/>
            <a:ext cx="3154680" cy="1828800"/>
          </a:xfrm>
          <a:prstGeom prst="roundRect">
            <a:avLst>
              <a:gd name="adj" fmla="val 4000"/>
            </a:avLst>
          </a:prstGeom>
          <a:solidFill>
            <a:srgbClr val="1331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38100" dir="5400000">
              <a:srgbClr val="0B2545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14400" y="4114800"/>
            <a:ext cx="640080" cy="64008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" y="4261104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91640" y="406908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12.000+</a:t>
            </a:r>
            <a:endParaRPr lang="en-US" sz="3800" dirty="0"/>
          </a:p>
        </p:txBody>
      </p:sp>
      <p:sp>
        <p:nvSpPr>
          <p:cNvPr id="24" name="Text 18"/>
          <p:cNvSpPr/>
          <p:nvPr/>
        </p:nvSpPr>
        <p:spPr>
          <a:xfrm>
            <a:off x="932688" y="49377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hóa đơn demo · quán Mì Cay Seoul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4526280" y="3794760"/>
            <a:ext cx="3154680" cy="1828800"/>
          </a:xfrm>
          <a:prstGeom prst="roundRect">
            <a:avLst>
              <a:gd name="adj" fmla="val 4000"/>
            </a:avLst>
          </a:prstGeom>
          <a:solidFill>
            <a:srgbClr val="1331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38100" dir="5400000">
              <a:srgbClr val="0B2545">
                <a:alpha val="1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800600" y="4114800"/>
            <a:ext cx="640080" cy="64008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6904" y="4261104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577840" y="406908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3800" dirty="0"/>
          </a:p>
        </p:txBody>
      </p:sp>
      <p:sp>
        <p:nvSpPr>
          <p:cNvPr id="29" name="Text 22"/>
          <p:cNvSpPr/>
          <p:nvPr/>
        </p:nvSpPr>
        <p:spPr>
          <a:xfrm>
            <a:off x="4818888" y="49377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Prisma áp dụng</a:t>
            </a:r>
            <a:endParaRPr lang="en-US" sz="1250" dirty="0"/>
          </a:p>
        </p:txBody>
      </p:sp>
      <p:sp>
        <p:nvSpPr>
          <p:cNvPr id="30" name="Shape 23"/>
          <p:cNvSpPr/>
          <p:nvPr/>
        </p:nvSpPr>
        <p:spPr>
          <a:xfrm>
            <a:off x="8412480" y="3794760"/>
            <a:ext cx="3154680" cy="1828800"/>
          </a:xfrm>
          <a:prstGeom prst="roundRect">
            <a:avLst>
              <a:gd name="adj" fmla="val 4000"/>
            </a:avLst>
          </a:prstGeom>
          <a:solidFill>
            <a:srgbClr val="1331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38100" dir="5400000">
              <a:srgbClr val="0B2545">
                <a:alpha val="1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686800" y="4114800"/>
            <a:ext cx="640080" cy="64008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33104" y="4261104"/>
            <a:ext cx="347472" cy="34747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464040" y="406908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800" dirty="0"/>
          </a:p>
        </p:txBody>
      </p:sp>
      <p:sp>
        <p:nvSpPr>
          <p:cNvPr id="34" name="Text 26"/>
          <p:cNvSpPr/>
          <p:nvPr/>
        </p:nvSpPr>
        <p:spPr>
          <a:xfrm>
            <a:off x="8705088" y="49377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OK · demo trọn chuỗi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640080" y="5806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Sáu bộ test bao phủ đúng vùng rủi ro cao: đồng bộ · thuế · nhắc hạn · xác thực · xuất XML · insight engine.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PHÁT TRIỂN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Từ phần lõi vững chắc đến sản phẩm thương mại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8F3F1"/>
            </a:solidFill>
            <a:prstDash val="solid"/>
          </a:ln>
          <a:effectLst>
            <a:outerShdw sx="100000" sy="100000" kx="0" ky="0" algn="bl" rotWithShape="0" blurRad="88900" dist="38100" dir="5400000">
              <a:srgbClr val="0B2545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29384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9293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2020824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57400" y="1783080"/>
            <a:ext cx="93268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Quét QR / mã vạch nhập hàng    </a:t>
            </a:r>
            <a:pPr indent="0" marL="0">
              <a:buNone/>
            </a:pPr>
            <a:r>
              <a:rPr lang="en-US" sz="12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camera quét mã sản phẩm khi nhập kho, giảm nhập liệu thủ công.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2651760"/>
            <a:ext cx="1106424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8F3F1"/>
            </a:solidFill>
            <a:prstDash val="solid"/>
          </a:ln>
          <a:effectLst>
            <a:outerShdw sx="100000" sy="100000" kx="0" ky="0" algn="bl" rotWithShape="0" blurRad="88900" dist="38100" dir="5400000">
              <a:srgbClr val="0B2545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49808" y="2798064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749808" y="27980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2889504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057400" y="2651760"/>
            <a:ext cx="93268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Nối Claude API tư vấn ngôn ngữ tự nhiên    </a:t>
            </a:r>
            <a:pPr indent="0" marL="0">
              <a:buNone/>
            </a:pPr>
            <a:r>
              <a:rPr lang="en-US" sz="12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Lớp tư vấn diễn giải số liệu thành lời khuyên dễ hiểu, trên nền 15 rule.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548640" y="3520440"/>
            <a:ext cx="1106424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8F3F1"/>
            </a:solidFill>
            <a:prstDash val="solid"/>
          </a:ln>
          <a:effectLst>
            <a:outerShdw sx="100000" sy="100000" kx="0" ky="0" algn="bl" rotWithShape="0" blurRad="88900" dist="38100" dir="5400000">
              <a:srgbClr val="0B2545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49808" y="3666744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3"/>
          <p:cNvSpPr/>
          <p:nvPr/>
        </p:nvSpPr>
        <p:spPr>
          <a:xfrm>
            <a:off x="749808" y="36667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3758184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057400" y="3520440"/>
            <a:ext cx="93268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Xuất tờ khai PDF mẫu 01/CNKD    </a:t>
            </a:r>
            <a:pPr indent="0" marL="0">
              <a:buNone/>
            </a:pPr>
            <a:r>
              <a:rPr lang="en-US" sz="12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Điền sẵn số liệu vào tờ khai chuẩn để in và nộp trực tiếp.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548640" y="4389120"/>
            <a:ext cx="1106424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8F3F1"/>
            </a:solidFill>
            <a:prstDash val="solid"/>
          </a:ln>
          <a:effectLst>
            <a:outerShdw sx="100000" sy="100000" kx="0" ky="0" algn="bl" rotWithShape="0" blurRad="88900" dist="38100" dir="5400000">
              <a:srgbClr val="0B2545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49808" y="4535424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2" name="Text 17"/>
          <p:cNvSpPr/>
          <p:nvPr/>
        </p:nvSpPr>
        <p:spPr>
          <a:xfrm>
            <a:off x="749808" y="45354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8760" y="4626864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2057400" y="4389120"/>
            <a:ext cx="93268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 cửa hàng / nhiều nhân viên    </a:t>
            </a:r>
            <a:pPr indent="0" marL="0">
              <a:buNone/>
            </a:pPr>
            <a:r>
              <a:rPr lang="en-US" sz="12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quyền theo vai trò, quản lý nhiều chi nhánh trên một tài khoản.</a:t>
            </a:r>
            <a:endParaRPr lang="en-US" sz="1500" dirty="0"/>
          </a:p>
        </p:txBody>
      </p:sp>
      <p:sp>
        <p:nvSpPr>
          <p:cNvPr id="25" name="Shape 19"/>
          <p:cNvSpPr/>
          <p:nvPr/>
        </p:nvSpPr>
        <p:spPr>
          <a:xfrm>
            <a:off x="548640" y="5257800"/>
            <a:ext cx="1106424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8F3F1"/>
            </a:solidFill>
            <a:prstDash val="solid"/>
          </a:ln>
          <a:effectLst>
            <a:outerShdw sx="100000" sy="100000" kx="0" ky="0" algn="bl" rotWithShape="0" blurRad="88900" dist="38100" dir="5400000">
              <a:srgbClr val="0B2545">
                <a:alpha val="1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49808" y="5404104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7" name="Text 21"/>
          <p:cNvSpPr/>
          <p:nvPr/>
        </p:nvSpPr>
        <p:spPr>
          <a:xfrm>
            <a:off x="749808" y="54041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8760" y="5495544"/>
            <a:ext cx="329184" cy="32918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2057400" y="5257800"/>
            <a:ext cx="93268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cổng hóa đơn điện tử quốc gia    </a:t>
            </a:r>
            <a:pPr indent="0" marL="0">
              <a:buNone/>
            </a:pPr>
            <a:r>
              <a:rPr lang="en-US" sz="12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Gửi thẳng hóa đơn XML đã ký số lên hệ thống Tổng cục Thuế.</a:t>
            </a:r>
            <a:endParaRPr lang="en-US" sz="1500" dirty="0"/>
          </a:p>
        </p:txBody>
      </p:sp>
      <p:sp>
        <p:nvSpPr>
          <p:cNvPr id="30" name="Shap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1" name="Text 24"/>
          <p:cNvSpPr/>
          <p:nvPr/>
        </p:nvSpPr>
        <p:spPr>
          <a:xfrm>
            <a:off x="457200" y="6547104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TaxEasy · IT Solution Challenge 2026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7162495" y="6547104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8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11414455" y="6547104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3200400"/>
            <a:ext cx="5486400" cy="548640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0" y="-2286000"/>
            <a:ext cx="5486400" cy="5486400"/>
          </a:xfrm>
          <a:prstGeom prst="ellipse">
            <a:avLst/>
          </a:prstGeom>
          <a:solidFill>
            <a:srgbClr val="0D9488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937760" y="1417320"/>
            <a:ext cx="2331720" cy="914400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B2545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1627632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035040" y="141732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TaxEasy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14400" y="260604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Cảm ơn &amp; sẵn sàng phản biện</a:t>
            </a:r>
            <a:endParaRPr lang="en-US" sz="4200" dirty="0"/>
          </a:p>
        </p:txBody>
      </p:sp>
      <p:sp>
        <p:nvSpPr>
          <p:cNvPr id="10" name="Text 7"/>
          <p:cNvSpPr/>
          <p:nvPr/>
        </p:nvSpPr>
        <p:spPr>
          <a:xfrm>
            <a:off x="914400" y="35661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app — bán hàng, quản lý, thuế — chạy được cả khi mất mạng.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1554480" y="4434840"/>
            <a:ext cx="2616098" cy="457200"/>
          </a:xfrm>
          <a:prstGeom prst="roundRect">
            <a:avLst>
              <a:gd name="adj" fmla="val 50000"/>
            </a:avLst>
          </a:prstGeom>
          <a:solidFill>
            <a:srgbClr val="13315C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554480" y="4434840"/>
            <a:ext cx="26160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chạy thật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371746" y="4434840"/>
            <a:ext cx="2224735" cy="457200"/>
          </a:xfrm>
          <a:prstGeom prst="roundRect">
            <a:avLst>
              <a:gd name="adj" fmla="val 50000"/>
            </a:avLst>
          </a:prstGeom>
          <a:solidFill>
            <a:srgbClr val="13315C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71746" y="4434840"/>
            <a:ext cx="22247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Đúng luật thuế 2026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797650" y="4434840"/>
            <a:ext cx="3105302" cy="457200"/>
          </a:xfrm>
          <a:prstGeom prst="roundRect">
            <a:avLst>
              <a:gd name="adj" fmla="val 50000"/>
            </a:avLst>
          </a:prstGeom>
          <a:solidFill>
            <a:srgbClr val="13315C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97650" y="4434840"/>
            <a:ext cx="310530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Hóa đơn XML chuẩn TT 78/2021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10104120" y="4434840"/>
            <a:ext cx="1637690" cy="457200"/>
          </a:xfrm>
          <a:prstGeom prst="roundRect">
            <a:avLst>
              <a:gd name="adj" fmla="val 50000"/>
            </a:avLst>
          </a:prstGeom>
          <a:solidFill>
            <a:srgbClr val="13315C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104120" y="4434840"/>
            <a:ext cx="163769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 test PASS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14400" y="55778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Solution Challenge 2026 · Đội 2 thành viên · Flutter + NestJS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TaxEasy — IT Solution Challenge 2026</dc:title>
  <dc:subject>PptxGenJS Presentation</dc:subject>
  <dc:creator>Đội TaxEasy</dc:creator>
  <cp:lastModifiedBy>Đội TaxEasy</cp:lastModifiedBy>
  <cp:revision>1</cp:revision>
  <dcterms:created xsi:type="dcterms:W3CDTF">2026-06-12T14:05:50Z</dcterms:created>
  <dcterms:modified xsi:type="dcterms:W3CDTF">2026-06-12T14:05:50Z</dcterms:modified>
</cp:coreProperties>
</file>